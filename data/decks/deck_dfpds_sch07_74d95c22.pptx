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26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INDIAN NAVAL STAFF BRIEFING  |  OPERATIONAL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DFPDS-2026 SCHEDULE 07</a:t>
            </a:r>
          </a:p>
          <a:p>
            <a:pPr>
              <a:spcBef>
                <a:spcPts val="800"/>
              </a:spcBef>
              <a:defRPr sz="1800">
                <a:solidFill>
                  <a:srgbClr val="FFD700"/>
                </a:solidFill>
                <a:latin typeface="Segoe UI"/>
              </a:defRPr>
            </a:pPr>
            <a:r>
              <a:t>SCHEDULE 07: SHIP REPAIRS, REFITS, DRY-DOCKING, AND HULL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PRESENTER:  NAVAL FINANCIAL COMPLIANCE DESK</a:t>
            </a:r>
          </a:p>
          <a:p>
            <a:pPr>
              <a:defRPr sz="1200">
                <a:solidFill>
                  <a:srgbClr val="CCD6F6"/>
                </a:solidFill>
                <a:latin typeface="Segoe UI"/>
              </a:defRPr>
            </a:pPr>
            <a:r>
              <a:t>COMMAND:    INTEGRATED HQ MOD (NAVY)</a:t>
            </a:r>
          </a:p>
          <a:p>
            <a:pPr>
              <a:defRPr sz="1100">
                <a:solidFill>
                  <a:srgbClr val="8892B0"/>
                </a:solidFill>
                <a:latin typeface="Consolas"/>
              </a:defRPr>
            </a:pPr>
            <a:r>
              <a:t>DTG:        011132Z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011132Z SEP 2026  |  PROJECT ANCHOR // PAGE 01 OF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(BLUF)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BOTTOM LINE UP FRONT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Delegation limits under DFPDS-2026 Schedule 7 (Schedule 07: Ship Repairs, Refits, Dry-Docking, and Hull Preservation)</a:t>
            </a:r>
          </a:p>
          <a:p>
            <a:pPr>
              <a:spcAft>
                <a:spcPts val="600"/>
              </a:spcAft>
              <a:defRPr sz="1000" b="1">
                <a:solidFill>
                  <a:srgbClr val="00E5FF"/>
                </a:solidFill>
                <a:latin typeface="Consolas"/>
              </a:defRPr>
            </a:pPr>
            <a:r>
              <a:t>KEY TAKEAWAYS &amp; FINDINGS: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CNS (Tier 1) sanction authority: ₹140.00 Cr (with IFA) / ₹14.00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Fleet Commander (Tier 3) authority: ₹21.00 Cr (with IFA) / ₹2.10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Mandatory IFA concurrence required for all sanctions exceeding without-IFA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4327855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URGENCY: PRIORITY</a:t>
            </a:r>
          </a:p>
          <a:p>
            <a:pPr>
              <a:spcBef>
                <a:spcPts val="1000"/>
              </a:spcBef>
              <a:defRPr sz="1300" b="1">
                <a:solidFill>
                  <a:srgbClr val="FFD700"/>
                </a:solidFill>
                <a:latin typeface="Arial"/>
              </a:defRPr>
            </a:pPr>
            <a:r>
              <a:t>DECISION / SANCTION REQUESTED: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Exercise sanction powers strictly within CFA delegated financial thresholds.</a:t>
            </a:r>
          </a:p>
          <a:p>
            <a:pPr>
              <a:spcBef>
                <a:spcPts val="1600"/>
              </a:spcBef>
              <a:defRPr sz="1300" b="1">
                <a:solidFill>
                  <a:srgbClr val="EF4444"/>
                </a:solidFill>
                <a:latin typeface="Arial"/>
              </a:defRPr>
            </a:pPr>
            <a:r>
              <a:t>OPERATIONAL &amp; AUDIT RISK:</a:t>
            </a:r>
          </a:p>
          <a:p>
            <a:pPr>
              <a:spcBef>
                <a:spcPts val="400"/>
              </a:spcBef>
              <a:defRPr sz="1250">
                <a:solidFill>
                  <a:srgbClr val="CCD6F6"/>
                </a:solidFill>
                <a:latin typeface="Segoe UI"/>
              </a:defRPr>
            </a:pPr>
            <a:r>
              <a:t>Sanctions exceeding delegated thresholds without IFA concurrence constitute audit violations.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011132Z SEP 2026  |  PROJECT ANCHOR // PAGE 02 OF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COMPETENT FINANCIAL AUTHORITY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96335"/>
                <a:gridCol w="2011680"/>
                <a:gridCol w="1645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CFA TIER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COMPETENT FINANCIAL AUTHORITY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 IFA CONCURRENCE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WITHOUT IFA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PAC LIMIT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of the Naval Staff (CNS)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Flag Officer Commanding-in-Chief (FOC-in-C) / VCNS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₹35.00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Commander / ASD (Naval Dockyard) / FOMA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₹21.00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₹2.10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₹10.50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Staff Officer (CSO) / Naval Officer-in-Charge (NOIC)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Capital Ship (Carrier / Destroyer / Frigate)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₹2.80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₹0.56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₹1.40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6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Minor War Vessel / Shore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₹0.17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₹0.35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B0"/>
                </a:solidFill>
                <a:latin typeface="Consolas"/>
              </a:defRPr>
            </a:pPr>
            <a:r>
              <a:t>STATUTORY PROVISO: PAC / Single Tender procurement subject to specific justification certificates.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011132Z SEP 2026  |  PROJECT ANCHOR // PAGE 03 OF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TENDERING &amp; CONCURRENCE POLICY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OPEN TENDER ENQUIRY (OTE)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SINGLE TENDER / PAC (STE)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Competition Requirement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Minimum 3 competitive bids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PAC Certificate mandatory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Financial Threshold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Full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50% of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IFA Concurrence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Above without-IFA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Mandatory for all PAC cases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700"/>
                </a:solidFill>
                <a:latin typeface="Consolas"/>
              </a:defRPr>
            </a:pPr>
            <a:r>
              <a:t>STATUTORY PRECEDENCE: DFPDS-2026 provisions prevail over general procurement provisions.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011132Z SEP 2026  |  PROJECT ANCHOR // PAGE 04 OF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